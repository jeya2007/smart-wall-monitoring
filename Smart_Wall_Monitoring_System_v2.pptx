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457200"/>
            <a:ext cx="4572000" cy="4572000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114800" cy="4114800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914400"/>
            <a:ext cx="3200400" cy="320040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74320"/>
            <a:ext cx="34747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743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F24"/>
                </a:solidFill>
              </a:rPr>
              <a:t>⚡  QUANTUMARD NATIONAL HACKATHON 2026  —  PHASE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Wall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Monitoring System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CC"/>
                </a:solidFill>
              </a:rPr>
              <a:t>IoT-Powered Structural Health Intelligence — Detect Early. Alert Instantly. Save Lives.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520440"/>
            <a:ext cx="1920240" cy="804672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538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4+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" y="3913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Sensors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4600" y="3520440"/>
            <a:ext cx="1920240" cy="804672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3538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14600" y="3913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Monitoring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520440"/>
            <a:ext cx="1920240" cy="804672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538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63440" y="3913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Alerts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3520440"/>
            <a:ext cx="1920240" cy="804672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3538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12280" y="3913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Analytics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Submission Deadline: 28 February 2026, 11:59 PM IST  •  github.com/your-repo  •  Demo Video: [link]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0"/>
            <a:ext cx="640080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This Model?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BF24"/>
                </a:solidFill>
              </a:rPr>
              <a:t>Understanding the Smart Wall Monitoring System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10515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9728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A Smart, Autonomous, IoT-Based System that attaches to walls &amp; structures — continuously sensing, analyzing, and alerting about structural health conditions without any human intervention.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331720"/>
            <a:ext cx="2743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📡  A Sensing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2907792"/>
            <a:ext cx="25237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74151"/>
                </a:solidFill>
              </a:rPr>
              <a:t>Multiple sensors embedded in walls capturing crack width, vibration, moisture, and temperature simultaneously.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233172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331720"/>
            <a:ext cx="274320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🧠  A Processing Brain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2907792"/>
            <a:ext cx="25237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74151"/>
                </a:solidFill>
              </a:rPr>
              <a:t>Arduino / NodeMCU microcontroller reads all sensor inputs, applies threshold logic, and decides when danger exists.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233172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331720"/>
            <a:ext cx="274320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🚨  An Alert Engine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36208" y="2907792"/>
            <a:ext cx="25237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74151"/>
                </a:solidFill>
              </a:rPr>
              <a:t>Instantly notifies building owners, engineers, or emergency teams via buzzer, SMS, and mobile app notifications.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0E17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Smart Wall Monitoring System  •  Quantumard National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0"/>
            <a:ext cx="640080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Model?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BF24"/>
                </a:solidFill>
              </a:rPr>
              <a:t>The Problem That Demands a Solution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97280"/>
            <a:ext cx="196596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972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🏚️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8600" y="1508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5,000+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01752" y="2029968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Building collapses per year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04872" y="109728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04872" y="1097280"/>
            <a:ext cx="196596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04872" y="10972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⚠️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404872" y="1508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78024" y="2029968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Failures from undetected cracks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81144" y="109728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81144" y="1097280"/>
            <a:ext cx="19659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81144" y="10972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💸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81144" y="1508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$250B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54296" y="2029968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Annual infrastructure repair cost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57416" y="109728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57416" y="1097280"/>
            <a:ext cx="19659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57416" y="10972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⏰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57416" y="1508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 hrs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30568" y="2029968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Avg time to detect damage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2816352"/>
            <a:ext cx="429768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28163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Current Problem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816352"/>
            <a:ext cx="425196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81635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Our Solution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" y="3200400"/>
            <a:ext cx="4297680" cy="320040"/>
          </a:xfrm>
          <a:prstGeom prst="rect">
            <a:avLst/>
          </a:prstGeom>
          <a:solidFill>
            <a:srgbClr val="FFF0F7"/>
          </a:solidFill>
          <a:ln w="12700">
            <a:solidFill>
              <a:srgbClr val="FFCC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200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</a:rPr>
              <a:t>✗  Manual inspection: expensive, rare, unreliable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3200400"/>
            <a:ext cx="4251960" cy="320040"/>
          </a:xfrm>
          <a:prstGeom prst="rect">
            <a:avLst/>
          </a:prstGeom>
          <a:solidFill>
            <a:srgbClr val="FFF0F7"/>
          </a:solidFill>
          <a:ln w="12700">
            <a:solidFill>
              <a:srgbClr val="C6F6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2004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✔  Automated sensors: cheap, continuous, precise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8600" y="3547872"/>
            <a:ext cx="4297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5478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</a:rPr>
              <a:t>✗  Damage found only after visible cracks appear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3547872"/>
            <a:ext cx="4251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F6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54787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✔  Micro-crack detection before structural failure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28600" y="3895344"/>
            <a:ext cx="4297680" cy="320040"/>
          </a:xfrm>
          <a:prstGeom prst="rect">
            <a:avLst/>
          </a:prstGeom>
          <a:solidFill>
            <a:srgbClr val="FFF0F7"/>
          </a:solidFill>
          <a:ln w="12700">
            <a:solidFill>
              <a:srgbClr val="FFCC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89534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</a:rPr>
              <a:t>✗  No early warning — disaster strikes unannounced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63440" y="3895344"/>
            <a:ext cx="4251960" cy="320040"/>
          </a:xfrm>
          <a:prstGeom prst="rect">
            <a:avLst/>
          </a:prstGeom>
          <a:solidFill>
            <a:srgbClr val="FFF0F7"/>
          </a:solidFill>
          <a:ln w="12700">
            <a:solidFill>
              <a:srgbClr val="C6F6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89534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✔  Real-time SMS + buzzer alerts at first risk sign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28600" y="4242816"/>
            <a:ext cx="4297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2428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</a:rPr>
              <a:t>✗  Data not stored — no trend analysis possible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63440" y="4242816"/>
            <a:ext cx="4251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F6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424281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✔  Cloud data logging enables predictive maintenance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0E17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Smart Wall Monitoring System  •  Quantumard National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0"/>
            <a:ext cx="640080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This Model Works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BF24"/>
                </a:solidFill>
              </a:rPr>
              <a:t>Step-by-Step System Flow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23774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43000"/>
            <a:ext cx="237744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0700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14300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📌 Sensor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Attachment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166420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Sensors fixed to wall surface at stress-critical points using adhesive mounts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88920" y="1143000"/>
            <a:ext cx="23774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88920" y="1143000"/>
            <a:ext cx="237744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80360" y="120700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114300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Data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Capture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80360" y="166420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Continuously measures crack, moisture, vibration &amp; temperature every 5 seconds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49240" y="1143000"/>
            <a:ext cx="23774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49240" y="1143000"/>
            <a:ext cx="2377440" cy="4754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40680" y="120700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0680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52160" y="114300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🔬 MCU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Processing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166420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Arduino reads analog/digital signals, converts and filters raw sensor data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2926080"/>
            <a:ext cx="23774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926080"/>
            <a:ext cx="2377440" cy="4754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99008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292608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⚖️ Threshold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Logic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" y="344728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Compares live readings against pre-configured safety thresholds in code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88920" y="2926080"/>
            <a:ext cx="23774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88920" y="2926080"/>
            <a:ext cx="237744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80360" y="299008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80360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291840" y="292608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☁️ Cloud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Upload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880360" y="344728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NodeMCU sends processed data to ThingSpeak via Wi-Fi or GSM backup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349240" y="2926080"/>
            <a:ext cx="23774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349240" y="2926080"/>
            <a:ext cx="237744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40680" y="299008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40680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852160" y="292608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🚨 Alert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System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40680" y="344728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Buzzer triggers + SMS sent + mobile app notification on threshold breach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606040" y="1920240"/>
            <a:ext cx="384048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80360" y="1847088"/>
            <a:ext cx="109728" cy="1463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66360" y="1920240"/>
            <a:ext cx="384048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40680" y="1847088"/>
            <a:ext cx="109728" cy="1463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26680" y="1783080"/>
            <a:ext cx="0" cy="914400"/>
          </a:xfrm>
          <a:prstGeom prst="line">
            <a:avLst/>
          </a:prstGeom>
          <a:noFill/>
          <a:ln w="31750">
            <a:solidFill>
              <a:srgbClr val="F97316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7726680" y="2697480"/>
            <a:ext cx="-1828800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2606040" y="3703320"/>
            <a:ext cx="384048" cy="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880360" y="3630168"/>
            <a:ext cx="109728" cy="1463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166360" y="3703320"/>
            <a:ext cx="384048" cy="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40680" y="3630168"/>
            <a:ext cx="109728" cy="1463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09560" y="1143000"/>
            <a:ext cx="1005840" cy="2423160"/>
          </a:xfrm>
          <a:prstGeom prst="rect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09560" y="1143000"/>
            <a:ext cx="1005840" cy="2423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DECISION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LOGIC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Threshold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Exceeded?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YES→Alert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NO→Loop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0E17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Smart Wall Monitoring System  •  Quantumard National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0"/>
            <a:ext cx="640080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Detailed System Workflow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BF24"/>
                </a:solidFill>
              </a:rPr>
              <a:t>Data Pipeline: Sensor → Microcontroller → Cloud → Alert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1143000"/>
            <a:ext cx="12801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143000"/>
            <a:ext cx="12801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143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46888" y="17190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SENSORS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6888" y="2148840"/>
            <a:ext cx="1188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74151"/>
                </a:solidFill>
              </a:rPr>
              <a:t>Crack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74151"/>
                </a:solidFill>
              </a:rPr>
              <a:t>Moisture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74151"/>
                </a:solidFill>
              </a:rPr>
              <a:t>Vibration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74151"/>
                </a:solidFill>
              </a:rPr>
              <a:t>Temp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81328" y="2057400"/>
            <a:ext cx="18288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91056" y="1984248"/>
            <a:ext cx="91440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64208" y="1143000"/>
            <a:ext cx="12801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664208" y="1143000"/>
            <a:ext cx="128016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64208" y="1143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09928" y="17190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82F6"/>
                </a:solidFill>
              </a:rPr>
              <a:t>ADC/GPIO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709928" y="2148840"/>
            <a:ext cx="1188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74151"/>
                </a:solidFill>
              </a:rPr>
              <a:t>Analog-to-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74151"/>
                </a:solidFill>
              </a:rPr>
              <a:t>Digital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74151"/>
                </a:solidFill>
              </a:rPr>
              <a:t>Conversion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44368" y="2057400"/>
            <a:ext cx="1828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54096" y="1984248"/>
            <a:ext cx="91440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27248" y="1143000"/>
            <a:ext cx="12801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27248" y="1143000"/>
            <a:ext cx="1280160" cy="5486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27248" y="1143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172968" y="17190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46E5"/>
                </a:solidFill>
              </a:rPr>
              <a:t>MCU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172968" y="2148840"/>
            <a:ext cx="1188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74151"/>
                </a:solidFill>
              </a:rPr>
              <a:t>Arduino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74151"/>
                </a:solidFill>
              </a:rPr>
              <a:t>NodeMCU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74151"/>
                </a:solidFill>
              </a:rPr>
              <a:t>Processing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07408" y="2057400"/>
            <a:ext cx="182880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17136" y="1984248"/>
            <a:ext cx="91440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90288" y="1143000"/>
            <a:ext cx="12801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0288" y="1143000"/>
            <a:ext cx="1280160" cy="548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0288" y="1143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📶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636008" y="17190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</a:rPr>
              <a:t>COMM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36008" y="2148840"/>
            <a:ext cx="1188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74151"/>
                </a:solidFill>
              </a:rPr>
              <a:t>ESP8266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74151"/>
                </a:solidFill>
              </a:rPr>
              <a:t>Wi-Fi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74151"/>
                </a:solidFill>
              </a:rPr>
              <a:t>GSM SIM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70448" y="2057400"/>
            <a:ext cx="1828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80176" y="1984248"/>
            <a:ext cx="91440" cy="14630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53328" y="1143000"/>
            <a:ext cx="12801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53328" y="1143000"/>
            <a:ext cx="128016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53328" y="1143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099048" y="17190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CLOUD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099048" y="2148840"/>
            <a:ext cx="1188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74151"/>
                </a:solidFill>
              </a:rPr>
              <a:t>ThingSpeak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74151"/>
                </a:solidFill>
              </a:rPr>
              <a:t>Dashboard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74151"/>
                </a:solidFill>
              </a:rPr>
              <a:t>Analytics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33488" y="2057400"/>
            <a:ext cx="18288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43216" y="1984248"/>
            <a:ext cx="91440" cy="1463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16368" y="1143000"/>
            <a:ext cx="12801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516368" y="1143000"/>
            <a:ext cx="1280160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16368" y="1143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562088" y="17190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OUTPUT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562088" y="2148840"/>
            <a:ext cx="1188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74151"/>
                </a:solidFill>
              </a:rPr>
              <a:t>Buzzer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74151"/>
                </a:solidFill>
              </a:rPr>
              <a:t>SMS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74151"/>
                </a:solidFill>
              </a:rPr>
              <a:t>Mobile App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01168" y="4663440"/>
            <a:ext cx="8741664" cy="201168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1168" y="4663440"/>
            <a:ext cx="8741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</a:rPr>
              <a:t>Continuous Feedback Loop — Data collected every 5 seconds  •  Cloud stores 30-day history  •  AI-ready for anomaly detection upgrades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0E17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Smart Wall Monitoring System  •  Quantumard National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0"/>
            <a:ext cx="640080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Hardware Components 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BF24"/>
                </a:solidFill>
              </a:rPr>
              <a:t>Every component — chosen for reliability &amp; cost-efficiency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97280"/>
            <a:ext cx="27432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109728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🔬  Microcontroller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Arduino Uno — Main processing unit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1892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NodeMCU ESP8266 — Wi-Fi enabled MCU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109728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097280"/>
            <a:ext cx="27432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832" y="109728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📡  Sensors (x4 types)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4612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Flex/Strain Gauge — crack width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46120" y="1892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SW-420 Vibration Sensor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46120" y="21854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FC-28 Soil Moisture Sensor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46120" y="24780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DHT11 Temperature Sensor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0760" y="109728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097280"/>
            <a:ext cx="274320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53912" y="109728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📶  Communication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ESP8266 Wi-Fi Module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72200" y="1892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SIM800L GSM Module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72200" y="21854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I2C Protocol for sensor bus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2907792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907792"/>
            <a:ext cx="274320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" y="2907792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🔔  Output &amp; Alerts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" y="3410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5V Passive Buzzer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004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16x2 LCD Display (status)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0040" y="3995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LED Indicators (R/G)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154680" y="2907792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54680" y="2907792"/>
            <a:ext cx="27432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27832" y="2907792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 Power Supply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46120" y="3410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9V DC Adapter / Battery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24612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5V Voltage Regulator (7805)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46120" y="3995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Capacitor noise filtering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80760" y="2907792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0760" y="2907792"/>
            <a:ext cx="2743200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53912" y="2907792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☁️  Cloud Platform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72200" y="3410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ThingSpeak (IoT Analytics)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7220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MATLAB Visualisation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72200" y="3995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Mobile App via Blynk/IFTTT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0E17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Smart Wall Monitoring System  •  Quantumard National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0"/>
            <a:ext cx="640080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 &amp; Block Diagram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BF24"/>
                </a:solidFill>
              </a:rPr>
              <a:t>Full hardware-to-cloud connectivity map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69164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515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Sensor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03020" y="1691640"/>
            <a:ext cx="0" cy="384048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051560"/>
            <a:ext cx="169164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0515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Vibration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Sensor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4700" y="1691640"/>
            <a:ext cx="0" cy="384048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051560"/>
            <a:ext cx="169164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80560" y="10515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Moisture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Sensor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26380" y="1691640"/>
            <a:ext cx="0" cy="384048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1051560"/>
            <a:ext cx="169164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10515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Temp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Sensor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38060" y="1691640"/>
            <a:ext cx="0" cy="384048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2075688"/>
            <a:ext cx="5349240" cy="7498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371600" y="2075688"/>
            <a:ext cx="5349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🔬  Microcontroller (Arduino Uno + NodeMCU ESP8266)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49440" y="2075688"/>
            <a:ext cx="1645920" cy="7498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49440" y="2075688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E17"/>
                </a:solidFill>
              </a:rPr>
              <a:t>⚡ Power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0E17"/>
                </a:solidFill>
              </a:rPr>
              <a:t>Supply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20840" y="2450592"/>
            <a:ext cx="2286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" y="2075688"/>
            <a:ext cx="1097280" cy="7498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37160" y="2075688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LCD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Display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234440" y="2450592"/>
            <a:ext cx="1371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50792" y="2825496"/>
            <a:ext cx="0" cy="347472"/>
          </a:xfrm>
          <a:prstGeom prst="line">
            <a:avLst/>
          </a:prstGeom>
          <a:noFill/>
          <a:ln w="31750">
            <a:solidFill>
              <a:srgbClr val="4F46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0" y="3172968"/>
            <a:ext cx="3520440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286000" y="317296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📶  Communication Layer  (Wi-Fi ESP8266  /  GSM SIM800L)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050792" y="3831336"/>
            <a:ext cx="0" cy="32004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51760" y="4151376"/>
            <a:ext cx="274320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651760" y="415137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☁️  ThingSpeak Cloud Platform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651760" y="4443984"/>
            <a:ext cx="-137160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822960" y="4224528"/>
            <a:ext cx="132588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22960" y="42245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🔔 Buzzer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94960" y="4443984"/>
            <a:ext cx="137160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766560" y="4224528"/>
            <a:ext cx="132588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766560" y="42245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📱 SMS / App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0E17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Smart Wall Monitoring System  •  Quantumard National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0"/>
            <a:ext cx="640080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Makes Us UNIQUE?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BF24"/>
                </a:solidFill>
              </a:rPr>
              <a:t>Our Competitive Differentiators vs Existing Solutions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15568"/>
            <a:ext cx="457200" cy="1572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1161288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1188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Multi-Sensor Fusion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62763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Combines crack + vibration + moisture + temperature in one low-cost embedded device. No competitor at this price.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11556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115568"/>
            <a:ext cx="457200" cy="15727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72968" y="1161288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03320" y="1188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Real-Time Cloud Sync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03320" y="162763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Data streams live to ThingSpeak every 5 seconds — viewable on any device globally, not just local alarms.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111556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115568"/>
            <a:ext cx="457200" cy="1572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9048" y="1161288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29400" y="1188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Sub-₹3,000 Total Cost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162763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Enterprise SHM costs ₹5–50 lakhs. Our solution delivers 80% capability at &lt;1% of the cost.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85292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852928"/>
            <a:ext cx="457200" cy="15727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" y="2898648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7724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Zero-Infra Retrofit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336499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Sticks onto existing walls using adhesive. No drilling, no rewiring, no structural modification needed.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54680" y="285292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54680" y="2852928"/>
            <a:ext cx="457200" cy="15727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72968" y="2898648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70332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AI-Ready Architecture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703320" y="336499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Threshold logic is extensible. Can plug in ML anomaly detection models for predictive failure analysis.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0760" y="285292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2852928"/>
            <a:ext cx="457200" cy="15727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99048" y="2898648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62940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Dual-Comms Redundancy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29400" y="336499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Wi-Fi primary + GSM fallback ensures alerts always reach users — even when internet fails in a disaster.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0E17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Smart Wall Monitoring System  •  Quantumard National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0"/>
            <a:ext cx="640080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Useful Is This System?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BF24"/>
                </a:solidFill>
              </a:rPr>
              <a:t>Real-World Impact Across Sectors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4151"/>
                </a:solidFill>
              </a:rPr>
              <a:t>Residential Buildings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0" y="1280160"/>
            <a:ext cx="5029200" cy="32004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1280160"/>
            <a:ext cx="477774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280160"/>
            <a:ext cx="47777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95%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18120" y="1188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Lives + repair costs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86537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4151"/>
                </a:solidFill>
              </a:rPr>
              <a:t>Bridges &amp; Flyovers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0" y="1956816"/>
            <a:ext cx="5029200" cy="32004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956816"/>
            <a:ext cx="4626864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1956816"/>
            <a:ext cx="4626864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92%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18120" y="186537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Disaster prevention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25420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4151"/>
                </a:solidFill>
              </a:rPr>
              <a:t>Schools &amp; Hospitals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0" y="2633472"/>
            <a:ext cx="5029200" cy="32004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2633472"/>
            <a:ext cx="4928616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633472"/>
            <a:ext cx="4928616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18120" y="254203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Occupant safety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32186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4151"/>
                </a:solidFill>
              </a:rPr>
              <a:t>Industrial Plants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0" y="3310128"/>
            <a:ext cx="5029200" cy="32004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3310128"/>
            <a:ext cx="4425696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3310128"/>
            <a:ext cx="4425696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88%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18120" y="32186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Equipment &amp; workers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389534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4151"/>
                </a:solidFill>
              </a:rPr>
              <a:t>Construction Sites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743200" y="3986784"/>
            <a:ext cx="5029200" cy="32004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0" y="3986784"/>
            <a:ext cx="427482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3986784"/>
            <a:ext cx="42748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85%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818120" y="389534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Early risk detection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572000"/>
            <a:ext cx="274320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5720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85%  Faster detection vs manual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0" y="4572000"/>
            <a:ext cx="2743200" cy="2377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45720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24/7  Non-stop monitoring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26480" y="4572000"/>
            <a:ext cx="274320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45720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 sec  Alert trigger latency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0E17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Smart Wall Monitoring System  •  Quantumard National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0"/>
            <a:ext cx="640080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Applications &amp; Use Cases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BF24"/>
                </a:solidFill>
              </a:rPr>
              <a:t>Where Smart Wall Monitoring Saves Lives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27432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🏢  Residential &amp; Commercial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</a:rPr>
              <a:t>Apartments, offices, malls — continuous crack &amp; leak detection protecting occupants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74320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27432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🌉  Bridges &amp; Dams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91840" y="162763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</a:rPr>
              <a:t>Critical infrastructure stress monitoring under dynamic loads &amp; heavy traffic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74320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97280"/>
            <a:ext cx="27432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🏫  Schools &amp; Hospitals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17920" y="162763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</a:rPr>
              <a:t>High-occupancy public buildings where structural safety is non-negotiable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862072"/>
            <a:ext cx="274320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62072"/>
            <a:ext cx="274320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62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🏭  Industrial Structures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339242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</a:rPr>
              <a:t>Factories with heavy vibration-generating machinery causing micro-fatigue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2862072"/>
            <a:ext cx="274320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862072"/>
            <a:ext cx="27432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862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🏗️  Construction Monitoring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291840" y="339242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</a:rPr>
              <a:t>Real-time structural oversight during active construction phases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2862072"/>
            <a:ext cx="274320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862072"/>
            <a:ext cx="274320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862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🌍  Post-Disaster Assessment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17920" y="339242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74151"/>
                </a:solidFill>
              </a:rPr>
              <a:t>Rapid structural safety check after earthquakes or floods before re-entry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0E17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Smart Wall Monitoring System  •  Quantumard National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0"/>
            <a:ext cx="640080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Budget &amp; Cost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BF24"/>
                </a:solidFill>
              </a:rPr>
              <a:t>Complete Bill of Materials — Prototype Build Cost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1097280"/>
            <a:ext cx="1920240" cy="246888"/>
          </a:xfrm>
          <a:prstGeom prst="rect">
            <a:avLst/>
          </a:prstGeom>
          <a:solidFill>
            <a:srgbClr val="F9731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" y="1097280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Component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21408" y="1097280"/>
            <a:ext cx="1828800" cy="246888"/>
          </a:xfrm>
          <a:prstGeom prst="rect">
            <a:avLst/>
          </a:prstGeom>
          <a:solidFill>
            <a:srgbClr val="F9731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57984" y="1097280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Model / Spec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950208" y="1097280"/>
            <a:ext cx="384048" cy="246888"/>
          </a:xfrm>
          <a:prstGeom prst="rect">
            <a:avLst/>
          </a:prstGeom>
          <a:solidFill>
            <a:srgbClr val="F9731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86784" y="1097280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34256" y="1097280"/>
            <a:ext cx="868680" cy="246888"/>
          </a:xfrm>
          <a:prstGeom prst="rect">
            <a:avLst/>
          </a:prstGeom>
          <a:solidFill>
            <a:srgbClr val="F9731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1097280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Unit ₹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02936" y="1097280"/>
            <a:ext cx="804672" cy="246888"/>
          </a:xfrm>
          <a:prstGeom prst="rect">
            <a:avLst/>
          </a:prstGeom>
          <a:solidFill>
            <a:srgbClr val="F9731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9512" y="1097280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Total ₹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1168" y="1344168"/>
            <a:ext cx="1920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" y="1344168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Arduino Uno R3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21408" y="1344168"/>
            <a:ext cx="18288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7984" y="1344168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ATmega328P, 14 I/O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950208" y="1344168"/>
            <a:ext cx="384048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86784" y="134416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34256" y="1344168"/>
            <a:ext cx="8686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1344168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450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02936" y="1344168"/>
            <a:ext cx="804672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9512" y="1344168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450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01168" y="1591056"/>
            <a:ext cx="1920240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1591056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NodeMCU ESP8266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21408" y="1591056"/>
            <a:ext cx="1828800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57984" y="1591056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Wi-Fi MCU, 80MHz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950208" y="1591056"/>
            <a:ext cx="384048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86784" y="1591056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34256" y="1591056"/>
            <a:ext cx="868680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70832" y="1591056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350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202936" y="1591056"/>
            <a:ext cx="804672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9512" y="1591056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350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01168" y="1837944"/>
            <a:ext cx="1920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7744" y="1837944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Flex / Strain Sensor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121408" y="1837944"/>
            <a:ext cx="18288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57984" y="1837944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50mm flex strip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50208" y="1837944"/>
            <a:ext cx="384048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86784" y="183794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334256" y="1837944"/>
            <a:ext cx="8686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70832" y="1837944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120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02936" y="1837944"/>
            <a:ext cx="804672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39512" y="1837944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240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01168" y="2084832"/>
            <a:ext cx="1920240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7744" y="2084832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Vibration Sensor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121408" y="2084832"/>
            <a:ext cx="1828800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57984" y="208483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SW-420 module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950208" y="2084832"/>
            <a:ext cx="384048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86784" y="208483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334256" y="2084832"/>
            <a:ext cx="868680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70832" y="2084832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60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202936" y="2084832"/>
            <a:ext cx="804672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39512" y="2084832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120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01168" y="2331720"/>
            <a:ext cx="1920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7744" y="2331720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Moisture Sensor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121408" y="2331720"/>
            <a:ext cx="18288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57984" y="2331720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FC-28 comparator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950208" y="2331720"/>
            <a:ext cx="384048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986784" y="2331720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2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334256" y="2331720"/>
            <a:ext cx="8686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370832" y="2331720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80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202936" y="2331720"/>
            <a:ext cx="804672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39512" y="2331720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160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01168" y="2578608"/>
            <a:ext cx="1920240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37744" y="2578608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Temperature Sensor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121408" y="2578608"/>
            <a:ext cx="1828800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157984" y="2578608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DHT11 / LM35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950208" y="2578608"/>
            <a:ext cx="384048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986784" y="257860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2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334256" y="2578608"/>
            <a:ext cx="868680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370832" y="2578608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75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202936" y="2578608"/>
            <a:ext cx="804672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239512" y="2578608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150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01168" y="2825496"/>
            <a:ext cx="1920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37744" y="2825496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GSM Module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121408" y="2825496"/>
            <a:ext cx="18288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157984" y="2825496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SIM800L + antenna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3950208" y="2825496"/>
            <a:ext cx="384048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986784" y="2825496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1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334256" y="2825496"/>
            <a:ext cx="8686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370832" y="2825496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420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5202936" y="2825496"/>
            <a:ext cx="804672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239512" y="2825496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420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201168" y="3072384"/>
            <a:ext cx="1920240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37744" y="3072384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Buzzer (5V)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121408" y="3072384"/>
            <a:ext cx="1828800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157984" y="3072384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Passive piezo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3950208" y="3072384"/>
            <a:ext cx="384048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986784" y="307238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1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334256" y="3072384"/>
            <a:ext cx="868680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370832" y="3072384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30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5202936" y="3072384"/>
            <a:ext cx="804672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239512" y="3072384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30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201168" y="3319272"/>
            <a:ext cx="1920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37744" y="3319272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LCD 16x2 + I2C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2121408" y="3319272"/>
            <a:ext cx="18288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157984" y="331927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Blue backlight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3950208" y="3319272"/>
            <a:ext cx="384048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986784" y="331927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1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4334256" y="3319272"/>
            <a:ext cx="8686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370832" y="3319272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150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5202936" y="3319272"/>
            <a:ext cx="804672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239512" y="3319272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150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201168" y="3566160"/>
            <a:ext cx="1920240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37744" y="3566160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LED Indicators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2121408" y="3566160"/>
            <a:ext cx="1828800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157984" y="3566160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Red + Green pack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3950208" y="3566160"/>
            <a:ext cx="384048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986784" y="3566160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1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4334256" y="3566160"/>
            <a:ext cx="868680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370832" y="3566160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20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5202936" y="3566160"/>
            <a:ext cx="804672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239512" y="3566160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20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201168" y="3813048"/>
            <a:ext cx="1920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37744" y="3813048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Resistors / Caps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2121408" y="3813048"/>
            <a:ext cx="18288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157984" y="3813048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Assorted pack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3950208" y="3813048"/>
            <a:ext cx="384048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986784" y="3813048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1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4334256" y="3813048"/>
            <a:ext cx="8686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370832" y="3813048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50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5202936" y="3813048"/>
            <a:ext cx="804672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239512" y="3813048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50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201168" y="4059936"/>
            <a:ext cx="1920240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37744" y="4059936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Breadboard + Wires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2121408" y="4059936"/>
            <a:ext cx="1828800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157984" y="4059936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830pt + jumper kit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3950208" y="4059936"/>
            <a:ext cx="384048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986784" y="4059936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1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4334256" y="4059936"/>
            <a:ext cx="868680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370832" y="4059936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180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5202936" y="4059936"/>
            <a:ext cx="804672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239512" y="4059936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180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201168" y="4306824"/>
            <a:ext cx="1920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237744" y="4306824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Power Supply 9V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2121408" y="4306824"/>
            <a:ext cx="18288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157984" y="4306824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Adapter + 7805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3950208" y="4306824"/>
            <a:ext cx="384048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986784" y="4306824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1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4334256" y="4306824"/>
            <a:ext cx="8686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4370832" y="4306824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120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5202936" y="4306824"/>
            <a:ext cx="804672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5239512" y="4306824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120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201168" y="4553712"/>
            <a:ext cx="1920240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237744" y="4553712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PCB / Enclosure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2121408" y="4553712"/>
            <a:ext cx="1828800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2157984" y="455371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Proto board + box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3950208" y="4553712"/>
            <a:ext cx="384048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3986784" y="4553712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1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4334256" y="4553712"/>
            <a:ext cx="868680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370832" y="4553712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250</a:t>
            </a:r>
            <a:endParaRPr lang="en-US" sz="900" dirty="0"/>
          </a:p>
        </p:txBody>
      </p:sp>
      <p:sp>
        <p:nvSpPr>
          <p:cNvPr id="154" name="Shape 152"/>
          <p:cNvSpPr/>
          <p:nvPr/>
        </p:nvSpPr>
        <p:spPr>
          <a:xfrm>
            <a:off x="5202936" y="4553712"/>
            <a:ext cx="804672" cy="246888"/>
          </a:xfrm>
          <a:prstGeom prst="rect">
            <a:avLst/>
          </a:prstGeom>
          <a:solidFill>
            <a:srgbClr val="FFFB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5239512" y="4553712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250</a:t>
            </a:r>
            <a:endParaRPr lang="en-US" sz="900" dirty="0"/>
          </a:p>
        </p:txBody>
      </p:sp>
      <p:sp>
        <p:nvSpPr>
          <p:cNvPr id="156" name="Shape 154"/>
          <p:cNvSpPr/>
          <p:nvPr/>
        </p:nvSpPr>
        <p:spPr>
          <a:xfrm>
            <a:off x="201168" y="4800600"/>
            <a:ext cx="1920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237744" y="4800600"/>
            <a:ext cx="18836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SIM Card + Misc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2121408" y="4800600"/>
            <a:ext cx="18288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2157984" y="4800600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Data SIM etc.</a:t>
            </a:r>
            <a:endParaRPr lang="en-US" sz="900" dirty="0"/>
          </a:p>
        </p:txBody>
      </p:sp>
      <p:sp>
        <p:nvSpPr>
          <p:cNvPr id="160" name="Shape 158"/>
          <p:cNvSpPr/>
          <p:nvPr/>
        </p:nvSpPr>
        <p:spPr>
          <a:xfrm>
            <a:off x="3950208" y="4800600"/>
            <a:ext cx="384048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3986784" y="4800600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1</a:t>
            </a:r>
            <a:endParaRPr lang="en-US" sz="900" dirty="0"/>
          </a:p>
        </p:txBody>
      </p:sp>
      <p:sp>
        <p:nvSpPr>
          <p:cNvPr id="162" name="Shape 160"/>
          <p:cNvSpPr/>
          <p:nvPr/>
        </p:nvSpPr>
        <p:spPr>
          <a:xfrm>
            <a:off x="4334256" y="4800600"/>
            <a:ext cx="8686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4370832" y="4800600"/>
            <a:ext cx="832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150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5202936" y="4800600"/>
            <a:ext cx="804672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5239512" y="4800600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150</a:t>
            </a:r>
            <a:endParaRPr lang="en-US" sz="900" dirty="0"/>
          </a:p>
        </p:txBody>
      </p:sp>
      <p:sp>
        <p:nvSpPr>
          <p:cNvPr id="166" name="Shape 164"/>
          <p:cNvSpPr/>
          <p:nvPr/>
        </p:nvSpPr>
        <p:spPr>
          <a:xfrm>
            <a:off x="201168" y="5047488"/>
            <a:ext cx="489204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246888" y="504748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TOTAL ESTIMATED COST</a:t>
            </a:r>
            <a:endParaRPr lang="en-US" sz="1050" dirty="0"/>
          </a:p>
        </p:txBody>
      </p:sp>
      <p:sp>
        <p:nvSpPr>
          <p:cNvPr id="168" name="Shape 166"/>
          <p:cNvSpPr/>
          <p:nvPr/>
        </p:nvSpPr>
        <p:spPr>
          <a:xfrm>
            <a:off x="5093208" y="5047488"/>
            <a:ext cx="804672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5093208" y="504748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₹ 2,640</a:t>
            </a:r>
            <a:endParaRPr lang="en-US" sz="1100" dirty="0"/>
          </a:p>
        </p:txBody>
      </p:sp>
      <p:sp>
        <p:nvSpPr>
          <p:cNvPr id="170" name="Shape 168"/>
          <p:cNvSpPr/>
          <p:nvPr/>
        </p:nvSpPr>
        <p:spPr>
          <a:xfrm>
            <a:off x="6080760" y="1097280"/>
            <a:ext cx="2834640" cy="10241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71" name="Text 169"/>
          <p:cNvSpPr/>
          <p:nvPr/>
        </p:nvSpPr>
        <p:spPr>
          <a:xfrm>
            <a:off x="6080760" y="10972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 2,640</a:t>
            </a:r>
            <a:endParaRPr lang="en-US" sz="3000" dirty="0"/>
          </a:p>
        </p:txBody>
      </p:sp>
      <p:sp>
        <p:nvSpPr>
          <p:cNvPr id="172" name="Text 170"/>
          <p:cNvSpPr/>
          <p:nvPr/>
        </p:nvSpPr>
        <p:spPr>
          <a:xfrm>
            <a:off x="6080760" y="166420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Full Prototype Cost</a:t>
            </a:r>
            <a:endParaRPr lang="en-US" sz="1100" dirty="0"/>
          </a:p>
        </p:txBody>
      </p:sp>
      <p:sp>
        <p:nvSpPr>
          <p:cNvPr id="173" name="Shape 171"/>
          <p:cNvSpPr/>
          <p:nvPr/>
        </p:nvSpPr>
        <p:spPr>
          <a:xfrm>
            <a:off x="6080760" y="2231136"/>
            <a:ext cx="2834640" cy="777240"/>
          </a:xfrm>
          <a:prstGeom prst="rect">
            <a:avLst/>
          </a:prstGeom>
          <a:solidFill>
            <a:srgbClr val="EF4444">
              <a:alpha val="9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6080760" y="223113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 ₹5–50 Lakh</a:t>
            </a:r>
            <a:endParaRPr lang="en-US" sz="1700" dirty="0"/>
          </a:p>
        </p:txBody>
      </p:sp>
      <p:sp>
        <p:nvSpPr>
          <p:cNvPr id="175" name="Text 173"/>
          <p:cNvSpPr/>
          <p:nvPr/>
        </p:nvSpPr>
        <p:spPr>
          <a:xfrm>
            <a:off x="6080760" y="26334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Enterprise SHM systems</a:t>
            </a:r>
            <a:endParaRPr lang="en-US" sz="900" dirty="0"/>
          </a:p>
        </p:txBody>
      </p:sp>
      <p:sp>
        <p:nvSpPr>
          <p:cNvPr id="176" name="Shape 174"/>
          <p:cNvSpPr/>
          <p:nvPr/>
        </p:nvSpPr>
        <p:spPr>
          <a:xfrm>
            <a:off x="6080760" y="3108960"/>
            <a:ext cx="2834640" cy="1417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77" name="Text 175"/>
          <p:cNvSpPr/>
          <p:nvPr/>
        </p:nvSpPr>
        <p:spPr>
          <a:xfrm>
            <a:off x="6080760" y="3108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99.7%</a:t>
            </a:r>
            <a:endParaRPr lang="en-US" sz="3400" dirty="0"/>
          </a:p>
        </p:txBody>
      </p:sp>
      <p:sp>
        <p:nvSpPr>
          <p:cNvPr id="178" name="Text 176"/>
          <p:cNvSpPr/>
          <p:nvPr/>
        </p:nvSpPr>
        <p:spPr>
          <a:xfrm>
            <a:off x="6080760" y="3794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Cost Saving vs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Commercial Products</a:t>
            </a:r>
            <a:endParaRPr lang="en-US" sz="1100" dirty="0"/>
          </a:p>
        </p:txBody>
      </p:sp>
      <p:sp>
        <p:nvSpPr>
          <p:cNvPr id="179" name="Shape 17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0E17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Budget based on Indian market prices (2025) — subject to supplier variation ±10%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0"/>
            <a:ext cx="640080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Scalability &amp; Future Roadmap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BF24"/>
                </a:solidFill>
              </a:rPr>
              <a:t>From Prototype to Smart City Infrastructure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274320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15568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Phase 1 — NOW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</a:rPr>
              <a:t>●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4 sensor nodes, single wall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3134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</a:rPr>
              <a:t>●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Local + cloud-based alerts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284378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</a:rPr>
              <a:t>●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Mobile dashboard view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337413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</a:rPr>
              <a:t>●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Cost: ₹2,640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017520" y="2852928"/>
            <a:ext cx="18288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2779776"/>
            <a:ext cx="91440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115568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115568"/>
            <a:ext cx="2743200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1115568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🔄  Phase 2 — 6 Months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17830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</a:rPr>
              <a:t>●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Multi-room mesh network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37560" y="23134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</a:rPr>
              <a:t>●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Custom PCB integration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37560" y="284378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</a:rPr>
              <a:t>●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Android/iOS native app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37560" y="337413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</a:rPr>
              <a:t>●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Cost: ₹15,000 / unit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0" y="2852928"/>
            <a:ext cx="18288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2779776"/>
            <a:ext cx="91440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1115568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115568"/>
            <a:ext cx="27432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1115568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🚀  Phase 3 — 1 Year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17830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</a:rPr>
              <a:t>●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City-level integration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63640" y="23134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</a:rPr>
              <a:t>●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ML anomaly detection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63640" y="284378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</a:rPr>
              <a:t>●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Govt. contracts &amp; SaaS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63640" y="337413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</a:rPr>
              <a:t>●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₹499/month subscription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74320" y="4681728"/>
            <a:ext cx="8595360" cy="201168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68172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Future Tech: AI anomaly detection  •  BIM integration  •  Solar-powered nodes  •  Automated emergency dispatch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0E17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Smart Wall Monitoring System  •  Quantumard National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4572000" cy="4572000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06B6D4">
              <a:alpha val="35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3200400"/>
            <a:ext cx="2743200" cy="2743200"/>
          </a:xfrm>
          <a:prstGeom prst="ellipse">
            <a:avLst/>
          </a:prstGeom>
          <a:solidFill>
            <a:srgbClr val="EC4899">
              <a:alpha val="28000"/>
            </a:srgbClr>
          </a:solidFill>
          <a:ln w="12700">
            <a:solidFill>
              <a:srgbClr val="EC4899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BBF24"/>
                </a:solidFill>
              </a:rPr>
              <a:t>🚀  Ready to Build Safer Structures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Wall Monitoring System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2743200" cy="192024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8288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🎯  Problem Solved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249424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Structural failures are preventable. Our system detects danger in real-time before it becomes disaster.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783080"/>
            <a:ext cx="2743200" cy="1920240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8288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💡  Innovation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249424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Multi-sensor IoT + cloud analytics + dual-comms at ₹2,640. Unique, scalable, patent-worthy architecture.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783080"/>
            <a:ext cx="2743200" cy="192024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8288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🌍  Impact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249424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Protects lives across buildings, bridges &amp; hospitals. Commercially viable at city scale via SaaS model.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840480"/>
            <a:ext cx="859536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384048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📋  PHASE 2 SUBMISSION  •  Deadline: 28 Feb 2026, 11:59 PM IST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422452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🔗 GitHub: github.com/your-repo   |   🎥 Demo: youtube.com/your-video   |   📄 PDF submitted via forms.gle/jCRqgbpeMVXPgzUT7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E17"/>
                </a:solidFill>
              </a:rPr>
              <a:t>Team Quantumard 🚀  •  Building Safer Structures with Smart Technology  •  Quantumard National Hackathon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Wall Monitoring System</dc:title>
  <dc:subject>PptxGenJS Presentation</dc:subject>
  <dc:creator>PptxGenJS</dc:creator>
  <cp:lastModifiedBy>PptxGenJS</cp:lastModifiedBy>
  <cp:revision>1</cp:revision>
  <dcterms:created xsi:type="dcterms:W3CDTF">2026-02-26T18:24:36Z</dcterms:created>
  <dcterms:modified xsi:type="dcterms:W3CDTF">2026-02-26T18:24:36Z</dcterms:modified>
</cp:coreProperties>
</file>